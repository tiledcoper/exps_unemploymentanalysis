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94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4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6474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sv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5" Type="http://schemas.openxmlformats.org/officeDocument/2006/relationships/image" Target="../media/image11.png"/><Relationship Id="rId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11.png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svg"/><Relationship Id="rId5" Type="http://schemas.openxmlformats.org/officeDocument/2006/relationships/image" Target="../media/image11.pn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svg"/><Relationship Id="rId5" Type="http://schemas.openxmlformats.org/officeDocument/2006/relationships/image" Target="../media/image11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6713" y="205941"/>
            <a:ext cx="8410575" cy="276225"/>
          </a:xfrm>
          <a:prstGeom prst="rect">
            <a:avLst/>
          </a:prstGeom>
          <a:ln/>
        </p:spPr>
      </p:sp>
      <p:sp>
        <p:nvSpPr>
          <p:cNvPr id="4" name="Shape 1"/>
          <p:cNvSpPr/>
          <p:nvPr/>
        </p:nvSpPr>
        <p:spPr>
          <a:xfrm>
            <a:off x="364592" y="204527"/>
            <a:ext cx="171450" cy="171450"/>
          </a:xfrm>
          <a:prstGeom prst="roundRect">
            <a:avLst>
              <a:gd name="adj" fmla="val 18667"/>
            </a:avLst>
          </a:prstGeom>
          <a:solidFill>
            <a:srgbClr val="0D9488"/>
          </a:solidFill>
          <a:ln/>
        </p:spPr>
      </p:sp>
      <p:sp>
        <p:nvSpPr>
          <p:cNvPr id="5" name="Text 2"/>
          <p:cNvSpPr/>
          <p:nvPr/>
        </p:nvSpPr>
        <p:spPr>
          <a:xfrm>
            <a:off x="617116" y="222200"/>
            <a:ext cx="181169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60" b="1" kern="0" spc="17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 Labour Market / 01</a:t>
            </a:r>
            <a:endParaRPr lang="en-US" sz="860" dirty="0"/>
          </a:p>
        </p:txBody>
      </p:sp>
      <p:sp>
        <p:nvSpPr>
          <p:cNvPr id="6" name="Text 3"/>
          <p:cNvSpPr/>
          <p:nvPr/>
        </p:nvSpPr>
        <p:spPr>
          <a:xfrm>
            <a:off x="7419677" y="229865"/>
            <a:ext cx="88803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30" b="1" kern="0" spc="4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STORY</a:t>
            </a:r>
            <a:endParaRPr lang="en-US" sz="730" dirty="0"/>
          </a:p>
        </p:txBody>
      </p:sp>
      <p:sp>
        <p:nvSpPr>
          <p:cNvPr id="7" name="Text 4"/>
          <p:cNvSpPr/>
          <p:nvPr/>
        </p:nvSpPr>
        <p:spPr>
          <a:xfrm>
            <a:off x="8223349" y="229865"/>
            <a:ext cx="77852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30" b="1" kern="0" spc="4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2019–2020</a:t>
            </a:r>
            <a:endParaRPr lang="en-US" sz="730" dirty="0"/>
          </a:p>
        </p:txBody>
      </p:sp>
      <p:sp>
        <p:nvSpPr>
          <p:cNvPr id="8" name="Text 5"/>
          <p:cNvSpPr/>
          <p:nvPr/>
        </p:nvSpPr>
        <p:spPr>
          <a:xfrm>
            <a:off x="365745" y="1351062"/>
            <a:ext cx="294198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85" dirty="0">
                <a:solidFill>
                  <a:srgbClr val="0D94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 • UNEMPLOYMENT ANALYSIS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65745" y="1553840"/>
            <a:ext cx="4457678" cy="595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890" b="1" kern="0" spc="-233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Unemployment</a:t>
            </a:r>
            <a:endParaRPr lang="en-US" sz="3890" dirty="0"/>
          </a:p>
        </p:txBody>
      </p:sp>
      <p:sp>
        <p:nvSpPr>
          <p:cNvPr id="10" name="Text 7"/>
          <p:cNvSpPr/>
          <p:nvPr/>
        </p:nvSpPr>
        <p:spPr>
          <a:xfrm>
            <a:off x="365745" y="2057474"/>
            <a:ext cx="2038834" cy="595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890" b="1" kern="0" spc="-233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India</a:t>
            </a:r>
            <a:endParaRPr lang="en-US" sz="3890" dirty="0"/>
          </a:p>
        </p:txBody>
      </p:sp>
      <p:sp>
        <p:nvSpPr>
          <p:cNvPr id="11" name="Text 8"/>
          <p:cNvSpPr/>
          <p:nvPr/>
        </p:nvSpPr>
        <p:spPr>
          <a:xfrm>
            <a:off x="365745" y="2725862"/>
            <a:ext cx="4457291" cy="372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85"/>
              </a:lnSpc>
              <a:buNone/>
            </a:pPr>
            <a:r>
              <a:rPr lang="en-US" sz="112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data story of regional differences, labour-market</a:t>
            </a:r>
            <a:endParaRPr lang="en-US" sz="1120" dirty="0"/>
          </a:p>
          <a:p>
            <a:pPr marL="0" indent="0" algn="l">
              <a:lnSpc>
                <a:spcPts val="1585"/>
              </a:lnSpc>
              <a:buNone/>
            </a:pPr>
            <a:r>
              <a:rPr lang="en-US" sz="112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signals, and the COVID-19 shock</a:t>
            </a:r>
            <a:endParaRPr lang="en-US" sz="1120" dirty="0"/>
          </a:p>
        </p:txBody>
      </p:sp>
      <p:sp>
        <p:nvSpPr>
          <p:cNvPr id="12" name="Shape 9"/>
          <p:cNvSpPr/>
          <p:nvPr/>
        </p:nvSpPr>
        <p:spPr>
          <a:xfrm>
            <a:off x="364927" y="3303277"/>
            <a:ext cx="2352675" cy="847725"/>
          </a:xfrm>
          <a:prstGeom prst="roundRect">
            <a:avLst>
              <a:gd name="adj" fmla="val 10787"/>
            </a:avLst>
          </a:prstGeom>
          <a:solidFill>
            <a:srgbClr val="FFFFFF">
              <a:alpha val="82000"/>
            </a:srgbClr>
          </a:solidFill>
          <a:ln w="4763">
            <a:solidFill>
              <a:srgbClr val="E2E8F0"/>
            </a:solidFill>
            <a:prstDash val="solid"/>
          </a:ln>
          <a:effectLst>
            <a:outerShdw blurRad="146304" dist="50292" dir="5400000" algn="bl" rotWithShape="0">
              <a:srgbClr val="1E3A5F">
                <a:alpha val="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16806" y="3431828"/>
            <a:ext cx="715647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Aft>
                <a:spcPts val="405"/>
              </a:spcAft>
              <a:buNone/>
            </a:pPr>
            <a:r>
              <a:rPr lang="en-US" sz="660" b="1" kern="0" spc="4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COVERAGE</a:t>
            </a:r>
            <a:endParaRPr lang="en-US" sz="660" dirty="0"/>
          </a:p>
        </p:txBody>
      </p:sp>
      <p:sp>
        <p:nvSpPr>
          <p:cNvPr id="14" name="Text 11"/>
          <p:cNvSpPr/>
          <p:nvPr/>
        </p:nvSpPr>
        <p:spPr>
          <a:xfrm>
            <a:off x="516806" y="3571280"/>
            <a:ext cx="43472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70" b="1" kern="0" spc="-75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870" dirty="0"/>
          </a:p>
        </p:txBody>
      </p:sp>
      <p:sp>
        <p:nvSpPr>
          <p:cNvPr id="15" name="Text 12"/>
          <p:cNvSpPr/>
          <p:nvPr/>
        </p:nvSpPr>
        <p:spPr>
          <a:xfrm>
            <a:off x="516806" y="3898181"/>
            <a:ext cx="1506676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365"/>
              </a:spcBef>
              <a:buNone/>
            </a:pPr>
            <a:r>
              <a:rPr lang="en-US" sz="780" b="1" dirty="0">
                <a:solidFill>
                  <a:srgbClr val="0D94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regions • Rural + Urban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2871341" y="3303277"/>
            <a:ext cx="2352675" cy="847725"/>
          </a:xfrm>
          <a:prstGeom prst="roundRect">
            <a:avLst>
              <a:gd name="adj" fmla="val 10787"/>
            </a:avLst>
          </a:prstGeom>
          <a:solidFill>
            <a:srgbClr val="FFFFFF">
              <a:alpha val="82000"/>
            </a:srgbClr>
          </a:solidFill>
          <a:ln w="4763">
            <a:solidFill>
              <a:srgbClr val="E2E8F0"/>
            </a:solidFill>
            <a:prstDash val="solid"/>
          </a:ln>
          <a:effectLst>
            <a:outerShdw blurRad="146304" dist="50292" dir="5400000" algn="bl" rotWithShape="0">
              <a:srgbClr val="1E3A5F">
                <a:alpha val="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3023220" y="3431828"/>
            <a:ext cx="1482782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Aft>
                <a:spcPts val="405"/>
              </a:spcAft>
              <a:buNone/>
            </a:pPr>
            <a:r>
              <a:rPr lang="en-US" sz="660" b="1" kern="0" spc="4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OBSERVATION WINDOW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3023220" y="3571280"/>
            <a:ext cx="88987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70" b="1" kern="0" spc="-75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mo</a:t>
            </a:r>
            <a:endParaRPr lang="en-US" sz="1870" dirty="0"/>
          </a:p>
        </p:txBody>
      </p:sp>
      <p:sp>
        <p:nvSpPr>
          <p:cNvPr id="19" name="Text 16"/>
          <p:cNvSpPr/>
          <p:nvPr/>
        </p:nvSpPr>
        <p:spPr>
          <a:xfrm>
            <a:off x="3023220" y="3898181"/>
            <a:ext cx="1463434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365"/>
              </a:spcBef>
              <a:buNone/>
            </a:pPr>
            <a:r>
              <a:rPr lang="en-US" sz="780" b="1" dirty="0">
                <a:solidFill>
                  <a:srgbClr val="0D94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 2019 – June 2020</a:t>
            </a:r>
            <a:endParaRPr lang="en-US" sz="780" dirty="0"/>
          </a:p>
        </p:txBody>
      </p:sp>
      <p:sp>
        <p:nvSpPr>
          <p:cNvPr id="20" name="Text 17"/>
          <p:cNvSpPr/>
          <p:nvPr/>
        </p:nvSpPr>
        <p:spPr>
          <a:xfrm>
            <a:off x="365745" y="4262214"/>
            <a:ext cx="409597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with Python, Pandas, Plotly, and Streamlit</a:t>
            </a:r>
            <a:endParaRPr lang="en-US" sz="1120" dirty="0"/>
          </a:p>
        </p:txBody>
      </p:sp>
      <p:sp>
        <p:nvSpPr>
          <p:cNvPr id="21" name="Shape 18"/>
          <p:cNvSpPr/>
          <p:nvPr/>
        </p:nvSpPr>
        <p:spPr>
          <a:xfrm>
            <a:off x="5478438" y="647998"/>
            <a:ext cx="3300413" cy="4486275"/>
          </a:xfrm>
          <a:prstGeom prst="roundRect">
            <a:avLst>
              <a:gd name="adj" fmla="val 2771"/>
            </a:avLst>
          </a:prstGeom>
          <a:solidFill>
            <a:srgbClr val="FFFFFF">
              <a:alpha val="82000"/>
            </a:srgbClr>
          </a:solidFill>
          <a:ln w="4763">
            <a:solidFill>
              <a:srgbClr val="E2E8F0"/>
            </a:solidFill>
            <a:prstDash val="solid"/>
          </a:ln>
          <a:effectLst>
            <a:outerShdw blurRad="146304" dist="50292" dir="5400000" algn="bl" rotWithShape="0">
              <a:srgbClr val="1E3A5F">
                <a:alpha val="6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666631" y="789384"/>
            <a:ext cx="1611444" cy="1381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Labour-market signal</a:t>
            </a:r>
            <a:endParaRPr lang="en-US" sz="900" dirty="0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6556" y="946472"/>
            <a:ext cx="2924175" cy="2924175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6556" y="3871020"/>
            <a:ext cx="2924175" cy="976312"/>
          </a:xfrm>
          <a:prstGeom prst="rect">
            <a:avLst/>
          </a:prstGeom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94573" y="4529658"/>
            <a:ext cx="647700" cy="257175"/>
          </a:xfrm>
          <a:prstGeom prst="rect">
            <a:avLst/>
          </a:prstGeom>
        </p:spPr>
      </p:pic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34770" y="4376328"/>
            <a:ext cx="647700" cy="409575"/>
          </a:xfrm>
          <a:prstGeom prst="rect">
            <a:avLst/>
          </a:prstGeom>
        </p:spPr>
      </p:pic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74967" y="4168676"/>
            <a:ext cx="647700" cy="619125"/>
          </a:xfrm>
          <a:prstGeom prst="rect">
            <a:avLst/>
          </a:prstGeom>
        </p:spPr>
      </p:pic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15163" y="3963405"/>
            <a:ext cx="647700" cy="82391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949702" y="4893246"/>
            <a:ext cx="182426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</a:t>
            </a:r>
            <a:endParaRPr lang="en-US" sz="650" dirty="0"/>
          </a:p>
        </p:txBody>
      </p:sp>
      <p:sp>
        <p:nvSpPr>
          <p:cNvPr id="30" name="Text 22"/>
          <p:cNvSpPr/>
          <p:nvPr/>
        </p:nvSpPr>
        <p:spPr>
          <a:xfrm>
            <a:off x="6695256" y="4893246"/>
            <a:ext cx="204095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Q2</a:t>
            </a:r>
            <a:endParaRPr lang="en-US" sz="650" dirty="0"/>
          </a:p>
        </p:txBody>
      </p:sp>
      <p:sp>
        <p:nvSpPr>
          <p:cNvPr id="31" name="Text 23"/>
          <p:cNvSpPr/>
          <p:nvPr/>
        </p:nvSpPr>
        <p:spPr>
          <a:xfrm>
            <a:off x="7448773" y="4893246"/>
            <a:ext cx="204966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Q3</a:t>
            </a:r>
            <a:endParaRPr lang="en-US" sz="650" dirty="0"/>
          </a:p>
        </p:txBody>
      </p:sp>
      <p:sp>
        <p:nvSpPr>
          <p:cNvPr id="32" name="Text 24"/>
          <p:cNvSpPr/>
          <p:nvPr/>
        </p:nvSpPr>
        <p:spPr>
          <a:xfrm>
            <a:off x="8201546" y="4893246"/>
            <a:ext cx="207965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Q4</a:t>
            </a:r>
            <a:endParaRPr lang="en-US" sz="650" dirty="0"/>
          </a:p>
        </p:txBody>
      </p:sp>
      <p:sp>
        <p:nvSpPr>
          <p:cNvPr id="33" name="Text 25"/>
          <p:cNvSpPr/>
          <p:nvPr/>
        </p:nvSpPr>
        <p:spPr>
          <a:xfrm>
            <a:off x="365745" y="5401568"/>
            <a:ext cx="1991432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60" kern="0" spc="8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Unemployment Analysis Project</a:t>
            </a:r>
            <a:endParaRPr lang="en-US" sz="760" dirty="0"/>
          </a:p>
        </p:txBody>
      </p:sp>
      <p:sp>
        <p:nvSpPr>
          <p:cNvPr id="34" name="Text 26"/>
          <p:cNvSpPr/>
          <p:nvPr/>
        </p:nvSpPr>
        <p:spPr>
          <a:xfrm>
            <a:off x="7155507" y="5401568"/>
            <a:ext cx="2166722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60" kern="0" spc="8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/ Pandas / Plotly / Streamlit</a:t>
            </a:r>
            <a:endParaRPr lang="en-US" sz="76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66713" y="205941"/>
            <a:ext cx="8410575" cy="276225"/>
          </a:xfrm>
          <a:prstGeom prst="rect">
            <a:avLst/>
          </a:prstGeom>
        </p:spPr>
      </p:pic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666556" y="3871020"/>
            <a:ext cx="2924175" cy="976312"/>
          </a:xfrm>
          <a:prstGeom prst="rect">
            <a:avLst/>
          </a:prstGeom>
        </p:spPr>
      </p:pic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66713" y="5298877"/>
            <a:ext cx="8410575" cy="2381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6713" y="205941"/>
            <a:ext cx="8410575" cy="276225"/>
          </a:xfrm>
          <a:prstGeom prst="rect">
            <a:avLst/>
          </a:prstGeom>
          <a:ln/>
        </p:spPr>
      </p:sp>
      <p:sp>
        <p:nvSpPr>
          <p:cNvPr id="4" name="Shape 1"/>
          <p:cNvSpPr/>
          <p:nvPr/>
        </p:nvSpPr>
        <p:spPr>
          <a:xfrm>
            <a:off x="364592" y="204527"/>
            <a:ext cx="171450" cy="171450"/>
          </a:xfrm>
          <a:prstGeom prst="roundRect">
            <a:avLst>
              <a:gd name="adj" fmla="val 18667"/>
            </a:avLst>
          </a:prstGeom>
          <a:solidFill>
            <a:srgbClr val="0D9488"/>
          </a:solidFill>
          <a:ln/>
        </p:spPr>
      </p:sp>
      <p:sp>
        <p:nvSpPr>
          <p:cNvPr id="5" name="Text 2"/>
          <p:cNvSpPr/>
          <p:nvPr/>
        </p:nvSpPr>
        <p:spPr>
          <a:xfrm>
            <a:off x="617116" y="222200"/>
            <a:ext cx="183965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60" b="1" kern="0" spc="17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 Labour Market / 02</a:t>
            </a:r>
            <a:endParaRPr lang="en-US" sz="860" dirty="0"/>
          </a:p>
        </p:txBody>
      </p:sp>
      <p:sp>
        <p:nvSpPr>
          <p:cNvPr id="6" name="Text 3"/>
          <p:cNvSpPr/>
          <p:nvPr/>
        </p:nvSpPr>
        <p:spPr>
          <a:xfrm>
            <a:off x="7495729" y="229865"/>
            <a:ext cx="136476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30" b="1" kern="0" spc="4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PREPARATION</a:t>
            </a:r>
            <a:endParaRPr lang="en-US" sz="730" dirty="0"/>
          </a:p>
        </p:txBody>
      </p:sp>
      <p:sp>
        <p:nvSpPr>
          <p:cNvPr id="7" name="Text 4"/>
          <p:cNvSpPr/>
          <p:nvPr/>
        </p:nvSpPr>
        <p:spPr>
          <a:xfrm>
            <a:off x="8666113" y="229865"/>
            <a:ext cx="20293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30" b="1" kern="0" spc="4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730" dirty="0"/>
          </a:p>
        </p:txBody>
      </p:sp>
      <p:sp>
        <p:nvSpPr>
          <p:cNvPr id="8" name="Text 5"/>
          <p:cNvSpPr/>
          <p:nvPr/>
        </p:nvSpPr>
        <p:spPr>
          <a:xfrm>
            <a:off x="365745" y="762298"/>
            <a:ext cx="167200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85" dirty="0">
                <a:solidFill>
                  <a:srgbClr val="0D94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PREPARATION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65745" y="948110"/>
            <a:ext cx="3313844" cy="404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630" b="1" kern="0" spc="-118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raw CSV to</a:t>
            </a:r>
            <a:endParaRPr lang="en-US" sz="2630" dirty="0"/>
          </a:p>
        </p:txBody>
      </p:sp>
      <p:sp>
        <p:nvSpPr>
          <p:cNvPr id="10" name="Text 7"/>
          <p:cNvSpPr/>
          <p:nvPr/>
        </p:nvSpPr>
        <p:spPr>
          <a:xfrm>
            <a:off x="365745" y="1301874"/>
            <a:ext cx="3983950" cy="404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630" b="1" kern="0" spc="-118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analysis-ready data</a:t>
            </a:r>
            <a:endParaRPr lang="en-US" sz="2630" dirty="0"/>
          </a:p>
        </p:txBody>
      </p:sp>
      <p:sp>
        <p:nvSpPr>
          <p:cNvPr id="11" name="Shape 8"/>
          <p:cNvSpPr/>
          <p:nvPr/>
        </p:nvSpPr>
        <p:spPr>
          <a:xfrm>
            <a:off x="366415" y="1812317"/>
            <a:ext cx="4152900" cy="2624138"/>
          </a:xfrm>
          <a:prstGeom prst="roundRect">
            <a:avLst>
              <a:gd name="adj" fmla="val 3485"/>
            </a:avLst>
          </a:prstGeom>
          <a:solidFill>
            <a:srgbClr val="FFFFFF">
              <a:alpha val="82000"/>
            </a:srgbClr>
          </a:solidFill>
          <a:ln w="4763">
            <a:solidFill>
              <a:srgbClr val="E2E8F0"/>
            </a:solidFill>
            <a:prstDash val="solid"/>
          </a:ln>
          <a:effectLst>
            <a:outerShdw blurRad="146304" dist="50292" dir="5400000" algn="bl" rotWithShape="0">
              <a:srgbClr val="1E3A5F">
                <a:alpha val="6000"/>
              </a:srgbClr>
            </a:outerShdw>
          </a:effectLst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152" y="1999915"/>
            <a:ext cx="3781425" cy="133826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343" y="3458542"/>
            <a:ext cx="2328952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30" b="1" kern="0" spc="41" dirty="0">
                <a:solidFill>
                  <a:srgbClr val="0D94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FILE → VALIDATED FRAME</a:t>
            </a:r>
            <a:endParaRPr lang="en-US" sz="830" dirty="0"/>
          </a:p>
        </p:txBody>
      </p:sp>
      <p:sp>
        <p:nvSpPr>
          <p:cNvPr id="14" name="Shape 10"/>
          <p:cNvSpPr/>
          <p:nvPr/>
        </p:nvSpPr>
        <p:spPr>
          <a:xfrm>
            <a:off x="553715" y="3709355"/>
            <a:ext cx="1843088" cy="538163"/>
          </a:xfrm>
          <a:prstGeom prst="roundRect">
            <a:avLst>
              <a:gd name="adj" fmla="val 11894"/>
            </a:avLst>
          </a:prstGeom>
          <a:solidFill>
            <a:srgbClr val="F1F5F9"/>
          </a:solidFill>
          <a:ln/>
        </p:spPr>
      </p:sp>
      <p:sp>
        <p:nvSpPr>
          <p:cNvPr id="15" name="Text 11"/>
          <p:cNvSpPr/>
          <p:nvPr/>
        </p:nvSpPr>
        <p:spPr>
          <a:xfrm>
            <a:off x="663029" y="3756645"/>
            <a:ext cx="56444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730" b="1" kern="0" spc="-69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768</a:t>
            </a:r>
            <a:endParaRPr lang="en-US" sz="1730" dirty="0"/>
          </a:p>
        </p:txBody>
      </p:sp>
      <p:sp>
        <p:nvSpPr>
          <p:cNvPr id="16" name="Text 12"/>
          <p:cNvSpPr/>
          <p:nvPr/>
        </p:nvSpPr>
        <p:spPr>
          <a:xfrm>
            <a:off x="663029" y="4055715"/>
            <a:ext cx="559996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365"/>
              </a:spcBef>
              <a:buNone/>
            </a:pPr>
            <a:r>
              <a:rPr lang="en-US" sz="68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rows</a:t>
            </a:r>
            <a:endParaRPr lang="en-US" sz="680" dirty="0"/>
          </a:p>
        </p:txBody>
      </p:sp>
      <p:sp>
        <p:nvSpPr>
          <p:cNvPr id="17" name="Shape 13"/>
          <p:cNvSpPr/>
          <p:nvPr/>
        </p:nvSpPr>
        <p:spPr>
          <a:xfrm>
            <a:off x="2488927" y="3709355"/>
            <a:ext cx="1843088" cy="538163"/>
          </a:xfrm>
          <a:prstGeom prst="roundRect">
            <a:avLst>
              <a:gd name="adj" fmla="val 11894"/>
            </a:avLst>
          </a:prstGeom>
          <a:solidFill>
            <a:srgbClr val="F1F5F9"/>
          </a:solidFill>
          <a:ln/>
        </p:spPr>
      </p:sp>
      <p:sp>
        <p:nvSpPr>
          <p:cNvPr id="18" name="Text 14"/>
          <p:cNvSpPr/>
          <p:nvPr/>
        </p:nvSpPr>
        <p:spPr>
          <a:xfrm>
            <a:off x="2598241" y="3756645"/>
            <a:ext cx="567928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730" b="1" kern="0" spc="-69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740</a:t>
            </a:r>
            <a:endParaRPr lang="en-US" sz="1730" dirty="0"/>
          </a:p>
        </p:txBody>
      </p:sp>
      <p:sp>
        <p:nvSpPr>
          <p:cNvPr id="19" name="Text 15"/>
          <p:cNvSpPr/>
          <p:nvPr/>
        </p:nvSpPr>
        <p:spPr>
          <a:xfrm>
            <a:off x="2598241" y="4055715"/>
            <a:ext cx="1110533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365"/>
              </a:spcBef>
              <a:buNone/>
            </a:pPr>
            <a:r>
              <a:rPr lang="en-US" sz="68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 observations</a:t>
            </a:r>
            <a:endParaRPr lang="en-US" sz="680" dirty="0"/>
          </a:p>
        </p:txBody>
      </p:sp>
      <p:sp>
        <p:nvSpPr>
          <p:cNvPr id="20" name="Text 16"/>
          <p:cNvSpPr/>
          <p:nvPr/>
        </p:nvSpPr>
        <p:spPr>
          <a:xfrm>
            <a:off x="4961483" y="1734443"/>
            <a:ext cx="428277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Standardized column names and trimmed text values</a:t>
            </a:r>
            <a:endParaRPr lang="en-US" sz="1020" dirty="0"/>
          </a:p>
        </p:txBody>
      </p:sp>
      <p:sp>
        <p:nvSpPr>
          <p:cNvPr id="21" name="Text 17"/>
          <p:cNvSpPr/>
          <p:nvPr/>
        </p:nvSpPr>
        <p:spPr>
          <a:xfrm>
            <a:off x="4961483" y="1964903"/>
            <a:ext cx="312133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Converted dates with day-first parsing</a:t>
            </a:r>
            <a:endParaRPr lang="en-US" sz="1020" dirty="0"/>
          </a:p>
        </p:txBody>
      </p:sp>
      <p:sp>
        <p:nvSpPr>
          <p:cNvPr id="22" name="Text 18"/>
          <p:cNvSpPr/>
          <p:nvPr/>
        </p:nvSpPr>
        <p:spPr>
          <a:xfrm>
            <a:off x="4961483" y="2196481"/>
            <a:ext cx="4968939" cy="323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8"/>
              </a:lnSpc>
              <a:buNone/>
            </a:pPr>
            <a:r>
              <a:rPr lang="en-US" sz="102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Coerced unemployment, employment, and participation fields</a:t>
            </a:r>
            <a:endParaRPr lang="en-US" sz="1020" dirty="0"/>
          </a:p>
          <a:p>
            <a:pPr marL="0" indent="0" algn="l">
              <a:lnSpc>
                <a:spcPts val="1308"/>
              </a:lnSpc>
              <a:buNone/>
            </a:pPr>
            <a:r>
              <a:rPr lang="en-US" sz="102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numeric</a:t>
            </a:r>
            <a:endParaRPr lang="en-US" sz="1020" dirty="0"/>
          </a:p>
        </p:txBody>
      </p:sp>
      <p:sp>
        <p:nvSpPr>
          <p:cNvPr id="23" name="Text 19"/>
          <p:cNvSpPr/>
          <p:nvPr/>
        </p:nvSpPr>
        <p:spPr>
          <a:xfrm>
            <a:off x="4961483" y="2591991"/>
            <a:ext cx="481454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Detected duplicates and removed incomplete required rows</a:t>
            </a:r>
            <a:endParaRPr lang="en-US" sz="1020" dirty="0"/>
          </a:p>
        </p:txBody>
      </p:sp>
      <p:sp>
        <p:nvSpPr>
          <p:cNvPr id="24" name="Text 20"/>
          <p:cNvSpPr/>
          <p:nvPr/>
        </p:nvSpPr>
        <p:spPr>
          <a:xfrm>
            <a:off x="4961483" y="2822451"/>
            <a:ext cx="4814158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Year, Month, Month_Name, Month_Label, and Period</a:t>
            </a:r>
            <a:endParaRPr lang="en-US" sz="1020" dirty="0"/>
          </a:p>
        </p:txBody>
      </p:sp>
      <p:sp>
        <p:nvSpPr>
          <p:cNvPr id="25" name="Text 21"/>
          <p:cNvSpPr/>
          <p:nvPr/>
        </p:nvSpPr>
        <p:spPr>
          <a:xfrm>
            <a:off x="4961483" y="3052911"/>
            <a:ext cx="442246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Classified observations as Pre-COVID or COVID period</a:t>
            </a:r>
            <a:endParaRPr lang="en-US" sz="1020" dirty="0"/>
          </a:p>
        </p:txBody>
      </p:sp>
      <p:sp>
        <p:nvSpPr>
          <p:cNvPr id="26" name="Text 22"/>
          <p:cNvSpPr/>
          <p:nvPr/>
        </p:nvSpPr>
        <p:spPr>
          <a:xfrm>
            <a:off x="4961483" y="3283372"/>
            <a:ext cx="417771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Result: 740 clean observations from 768 raw rows</a:t>
            </a:r>
            <a:endParaRPr lang="en-US" sz="1020" dirty="0"/>
          </a:p>
        </p:txBody>
      </p:sp>
      <p:sp>
        <p:nvSpPr>
          <p:cNvPr id="27" name="Text 23"/>
          <p:cNvSpPr/>
          <p:nvPr/>
        </p:nvSpPr>
        <p:spPr>
          <a:xfrm>
            <a:off x="365745" y="4803353"/>
            <a:ext cx="1991432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60" kern="0" spc="8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Unemployment Analysis Project</a:t>
            </a:r>
            <a:endParaRPr lang="en-US" sz="760" dirty="0"/>
          </a:p>
        </p:txBody>
      </p:sp>
      <p:sp>
        <p:nvSpPr>
          <p:cNvPr id="28" name="Text 24"/>
          <p:cNvSpPr/>
          <p:nvPr/>
        </p:nvSpPr>
        <p:spPr>
          <a:xfrm>
            <a:off x="6480349" y="4803353"/>
            <a:ext cx="3044428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60" kern="0" spc="8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Cleaning makes comparison trustworthy · Page 2</a:t>
            </a:r>
            <a:endParaRPr lang="en-US" sz="760" dirty="0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713" y="205941"/>
            <a:ext cx="8410575" cy="276225"/>
          </a:xfrm>
          <a:prstGeom prst="rect">
            <a:avLst/>
          </a:prstGeom>
        </p:spPr>
      </p:pic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6713" y="4700662"/>
            <a:ext cx="8410575" cy="2381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8787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6713" y="205941"/>
            <a:ext cx="8410575" cy="276225"/>
          </a:xfrm>
          <a:prstGeom prst="rect">
            <a:avLst/>
          </a:prstGeom>
          <a:ln/>
        </p:spPr>
      </p:sp>
      <p:sp>
        <p:nvSpPr>
          <p:cNvPr id="4" name="Shape 1"/>
          <p:cNvSpPr/>
          <p:nvPr/>
        </p:nvSpPr>
        <p:spPr>
          <a:xfrm>
            <a:off x="364592" y="204527"/>
            <a:ext cx="171450" cy="171450"/>
          </a:xfrm>
          <a:prstGeom prst="roundRect">
            <a:avLst>
              <a:gd name="adj" fmla="val 18667"/>
            </a:avLst>
          </a:prstGeom>
          <a:solidFill>
            <a:srgbClr val="0D9488"/>
          </a:solidFill>
          <a:ln/>
        </p:spPr>
      </p:sp>
      <p:sp>
        <p:nvSpPr>
          <p:cNvPr id="5" name="Text 2"/>
          <p:cNvSpPr/>
          <p:nvPr/>
        </p:nvSpPr>
        <p:spPr>
          <a:xfrm>
            <a:off x="617116" y="222200"/>
            <a:ext cx="184245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60" b="1" kern="0" spc="17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 Labour Market / 03</a:t>
            </a:r>
            <a:endParaRPr lang="en-US" sz="860" dirty="0"/>
          </a:p>
        </p:txBody>
      </p:sp>
      <p:sp>
        <p:nvSpPr>
          <p:cNvPr id="6" name="Text 3"/>
          <p:cNvSpPr/>
          <p:nvPr/>
        </p:nvSpPr>
        <p:spPr>
          <a:xfrm>
            <a:off x="7410748" y="229865"/>
            <a:ext cx="1450955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30" b="1" kern="0" spc="4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PERFORMANCE DATA</a:t>
            </a:r>
            <a:endParaRPr lang="en-US" sz="730" dirty="0"/>
          </a:p>
        </p:txBody>
      </p:sp>
      <p:sp>
        <p:nvSpPr>
          <p:cNvPr id="7" name="Text 4"/>
          <p:cNvSpPr/>
          <p:nvPr/>
        </p:nvSpPr>
        <p:spPr>
          <a:xfrm>
            <a:off x="8647435" y="229865"/>
            <a:ext cx="227216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30" b="1" kern="0" spc="4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730" dirty="0"/>
          </a:p>
        </p:txBody>
      </p:sp>
      <p:sp>
        <p:nvSpPr>
          <p:cNvPr id="8" name="Text 5"/>
          <p:cNvSpPr/>
          <p:nvPr/>
        </p:nvSpPr>
        <p:spPr>
          <a:xfrm>
            <a:off x="365745" y="1405607"/>
            <a:ext cx="122004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85" dirty="0">
                <a:solidFill>
                  <a:srgbClr val="0D94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FINDINGS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65745" y="1591419"/>
            <a:ext cx="4589629" cy="404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630" b="1" kern="0" spc="-118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data revealed</a:t>
            </a:r>
            <a:endParaRPr lang="en-US" sz="2630" dirty="0"/>
          </a:p>
        </p:txBody>
      </p:sp>
      <p:sp>
        <p:nvSpPr>
          <p:cNvPr id="10" name="Text 7"/>
          <p:cNvSpPr/>
          <p:nvPr/>
        </p:nvSpPr>
        <p:spPr>
          <a:xfrm>
            <a:off x="505495" y="2205186"/>
            <a:ext cx="3543888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Pre-COVID average unemployment: 9.51%</a:t>
            </a:r>
            <a:endParaRPr lang="en-US" sz="1020" dirty="0"/>
          </a:p>
        </p:txBody>
      </p:sp>
      <p:sp>
        <p:nvSpPr>
          <p:cNvPr id="11" name="Text 8"/>
          <p:cNvSpPr/>
          <p:nvPr/>
        </p:nvSpPr>
        <p:spPr>
          <a:xfrm>
            <a:off x="505495" y="2435647"/>
            <a:ext cx="258521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COVID-period average: 17.77%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505495" y="2666107"/>
            <a:ext cx="353585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Change: +8.26 percentage points (+86.9%)</a:t>
            </a:r>
            <a:endParaRPr lang="en-US" sz="1020" dirty="0"/>
          </a:p>
        </p:txBody>
      </p:sp>
      <p:sp>
        <p:nvSpPr>
          <p:cNvPr id="13" name="Text 10"/>
          <p:cNvSpPr/>
          <p:nvPr/>
        </p:nvSpPr>
        <p:spPr>
          <a:xfrm>
            <a:off x="505495" y="2896567"/>
            <a:ext cx="32366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Urban average: 13.17% vs Rural: 10.32%</a:t>
            </a:r>
            <a:endParaRPr lang="en-US" sz="1020" dirty="0"/>
          </a:p>
        </p:txBody>
      </p:sp>
      <p:sp>
        <p:nvSpPr>
          <p:cNvPr id="14" name="Text 11"/>
          <p:cNvSpPr/>
          <p:nvPr/>
        </p:nvSpPr>
        <p:spPr>
          <a:xfrm>
            <a:off x="505495" y="3165574"/>
            <a:ext cx="346253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Highest-average region: Tripura at 28.35%</a:t>
            </a:r>
            <a:endParaRPr lang="en-US" sz="1020" dirty="0"/>
          </a:p>
        </p:txBody>
      </p:sp>
      <p:sp>
        <p:nvSpPr>
          <p:cNvPr id="15" name="Text 12"/>
          <p:cNvSpPr/>
          <p:nvPr/>
        </p:nvSpPr>
        <p:spPr>
          <a:xfrm>
            <a:off x="505495" y="3396035"/>
            <a:ext cx="4142408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Peak observation: 76.74% in Puducherry, Apr 2020</a:t>
            </a:r>
            <a:endParaRPr lang="en-US" sz="1020" dirty="0"/>
          </a:p>
        </p:txBody>
      </p:sp>
      <p:sp>
        <p:nvSpPr>
          <p:cNvPr id="16" name="Text 13"/>
          <p:cNvSpPr/>
          <p:nvPr/>
        </p:nvSpPr>
        <p:spPr>
          <a:xfrm>
            <a:off x="505495" y="3626495"/>
            <a:ext cx="382791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 was the highest monthly average: 23.64%</a:t>
            </a:r>
            <a:endParaRPr lang="en-US" sz="1020" dirty="0"/>
          </a:p>
        </p:txBody>
      </p:sp>
      <p:sp>
        <p:nvSpPr>
          <p:cNvPr id="17" name="Shape 14"/>
          <p:cNvSpPr/>
          <p:nvPr/>
        </p:nvSpPr>
        <p:spPr>
          <a:xfrm>
            <a:off x="4940015" y="1175631"/>
            <a:ext cx="3838575" cy="1595437"/>
          </a:xfrm>
          <a:prstGeom prst="roundRect">
            <a:avLst>
              <a:gd name="adj" fmla="val 5731"/>
            </a:avLst>
          </a:prstGeom>
          <a:solidFill>
            <a:srgbClr val="FFFFFF">
              <a:alpha val="82000"/>
            </a:srgbClr>
          </a:solidFill>
          <a:ln w="4763">
            <a:solidFill>
              <a:srgbClr val="E2E8F0"/>
            </a:solidFill>
            <a:prstDash val="solid"/>
          </a:ln>
          <a:effectLst>
            <a:outerShdw blurRad="146304" dist="50292" dir="5400000" algn="bl" rotWithShape="0">
              <a:srgbClr val="1E3A5F">
                <a:alpha val="6000"/>
              </a:srgbClr>
            </a:outerShdw>
          </a:effectLst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>
            <a:off x="5054315" y="1289931"/>
            <a:ext cx="3609975" cy="1366837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923819" y="2415741"/>
            <a:ext cx="1685925" cy="247650"/>
          </a:xfrm>
          <a:prstGeom prst="roundRect">
            <a:avLst>
              <a:gd name="adj" fmla="val 16615"/>
            </a:avLst>
          </a:prstGeom>
          <a:solidFill>
            <a:srgbClr val="1E3A5F">
              <a:alpha val="92000"/>
            </a:srgbClr>
          </a:solidFill>
          <a:ln/>
        </p:spPr>
      </p:sp>
      <p:sp>
        <p:nvSpPr>
          <p:cNvPr id="20" name="Text 16"/>
          <p:cNvSpPr/>
          <p:nvPr/>
        </p:nvSpPr>
        <p:spPr>
          <a:xfrm>
            <a:off x="7015981" y="2477095"/>
            <a:ext cx="2009232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60" b="1" kern="0" spc="3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COVID-period shift · +8.26 pp</a:t>
            </a:r>
            <a:endParaRPr lang="en-US" sz="760" dirty="0"/>
          </a:p>
        </p:txBody>
      </p:sp>
      <p:sp>
        <p:nvSpPr>
          <p:cNvPr id="21" name="Shape 17"/>
          <p:cNvSpPr/>
          <p:nvPr/>
        </p:nvSpPr>
        <p:spPr>
          <a:xfrm>
            <a:off x="4940015" y="2841836"/>
            <a:ext cx="3838575" cy="1166812"/>
          </a:xfrm>
          <a:prstGeom prst="roundRect">
            <a:avLst>
              <a:gd name="adj" fmla="val 7837"/>
            </a:avLst>
          </a:prstGeom>
          <a:solidFill>
            <a:srgbClr val="FFFFFF">
              <a:alpha val="82000"/>
            </a:srgbClr>
          </a:solidFill>
          <a:ln w="4763">
            <a:solidFill>
              <a:srgbClr val="E2E8F0"/>
            </a:solidFill>
            <a:prstDash val="solid"/>
          </a:ln>
          <a:effectLst>
            <a:outerShdw blurRad="146304" dist="50292" dir="5400000" algn="bl" rotWithShape="0">
              <a:srgbClr val="1E3A5F">
                <a:alpha val="6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5063951" y="2938686"/>
            <a:ext cx="1828234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Aft>
                <a:spcPts val="567"/>
              </a:spcAft>
              <a:buNone/>
            </a:pPr>
            <a:r>
              <a:rPr lang="en-US" sz="780" b="1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Average unemployment rate</a:t>
            </a:r>
            <a:endParaRPr lang="en-US" sz="780" dirty="0"/>
          </a:p>
        </p:txBody>
      </p:sp>
      <p:sp>
        <p:nvSpPr>
          <p:cNvPr id="23" name="Text 19"/>
          <p:cNvSpPr/>
          <p:nvPr/>
        </p:nvSpPr>
        <p:spPr>
          <a:xfrm>
            <a:off x="5063951" y="3157389"/>
            <a:ext cx="68333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Pre-COVID</a:t>
            </a:r>
            <a:endParaRPr lang="en-US" sz="720" dirty="0"/>
          </a:p>
        </p:txBody>
      </p:sp>
      <p:sp>
        <p:nvSpPr>
          <p:cNvPr id="24" name="Shape 20"/>
          <p:cNvSpPr/>
          <p:nvPr/>
        </p:nvSpPr>
        <p:spPr>
          <a:xfrm>
            <a:off x="5694499" y="3180717"/>
            <a:ext cx="2576512" cy="7143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5" name="Text 21"/>
          <p:cNvSpPr/>
          <p:nvPr/>
        </p:nvSpPr>
        <p:spPr>
          <a:xfrm>
            <a:off x="8212485" y="3153966"/>
            <a:ext cx="442168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9.51%</a:t>
            </a:r>
            <a:endParaRPr lang="en-US" sz="760" dirty="0"/>
          </a:p>
        </p:txBody>
      </p:sp>
      <p:sp>
        <p:nvSpPr>
          <p:cNvPr id="26" name="Text 22"/>
          <p:cNvSpPr/>
          <p:nvPr/>
        </p:nvSpPr>
        <p:spPr>
          <a:xfrm>
            <a:off x="5063951" y="3352800"/>
            <a:ext cx="43665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COVID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5694499" y="3376129"/>
            <a:ext cx="2576512" cy="7143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8" name="Text 24"/>
          <p:cNvSpPr/>
          <p:nvPr/>
        </p:nvSpPr>
        <p:spPr>
          <a:xfrm>
            <a:off x="8187266" y="3349377"/>
            <a:ext cx="487926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17.77%</a:t>
            </a:r>
            <a:endParaRPr lang="en-US" sz="760" dirty="0"/>
          </a:p>
        </p:txBody>
      </p:sp>
      <p:sp>
        <p:nvSpPr>
          <p:cNvPr id="29" name="Text 25"/>
          <p:cNvSpPr/>
          <p:nvPr/>
        </p:nvSpPr>
        <p:spPr>
          <a:xfrm>
            <a:off x="5063951" y="3548211"/>
            <a:ext cx="40985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Urban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5694499" y="3571540"/>
            <a:ext cx="2576512" cy="7143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31" name="Text 27"/>
          <p:cNvSpPr/>
          <p:nvPr/>
        </p:nvSpPr>
        <p:spPr>
          <a:xfrm>
            <a:off x="8188829" y="3544788"/>
            <a:ext cx="481154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13.17%</a:t>
            </a:r>
            <a:endParaRPr lang="en-US" sz="760" dirty="0"/>
          </a:p>
        </p:txBody>
      </p:sp>
      <p:sp>
        <p:nvSpPr>
          <p:cNvPr id="32" name="Text 28"/>
          <p:cNvSpPr/>
          <p:nvPr/>
        </p:nvSpPr>
        <p:spPr>
          <a:xfrm>
            <a:off x="5063951" y="3743623"/>
            <a:ext cx="352782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Rural</a:t>
            </a:r>
            <a:endParaRPr lang="en-US" sz="720" dirty="0"/>
          </a:p>
        </p:txBody>
      </p:sp>
      <p:sp>
        <p:nvSpPr>
          <p:cNvPr id="33" name="Shape 29"/>
          <p:cNvSpPr/>
          <p:nvPr/>
        </p:nvSpPr>
        <p:spPr>
          <a:xfrm>
            <a:off x="5694499" y="3766951"/>
            <a:ext cx="2576512" cy="7143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34" name="Text 30"/>
          <p:cNvSpPr/>
          <p:nvPr/>
        </p:nvSpPr>
        <p:spPr>
          <a:xfrm>
            <a:off x="8178448" y="3740200"/>
            <a:ext cx="526137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10.32%</a:t>
            </a:r>
            <a:endParaRPr lang="en-US" sz="760" dirty="0"/>
          </a:p>
        </p:txBody>
      </p:sp>
      <p:sp>
        <p:nvSpPr>
          <p:cNvPr id="35" name="Text 31"/>
          <p:cNvSpPr/>
          <p:nvPr/>
        </p:nvSpPr>
        <p:spPr>
          <a:xfrm>
            <a:off x="365745" y="4803353"/>
            <a:ext cx="1991432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60" kern="0" spc="8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Unemployment Analysis Project</a:t>
            </a:r>
            <a:endParaRPr lang="en-US" sz="760" dirty="0"/>
          </a:p>
        </p:txBody>
      </p:sp>
      <p:sp>
        <p:nvSpPr>
          <p:cNvPr id="36" name="Text 32"/>
          <p:cNvSpPr/>
          <p:nvPr/>
        </p:nvSpPr>
        <p:spPr>
          <a:xfrm>
            <a:off x="6681713" y="4803353"/>
            <a:ext cx="2782654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60" kern="0" spc="8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Observed patterns, not causal proof · Page 3</a:t>
            </a:r>
            <a:endParaRPr lang="en-US" sz="760" dirty="0"/>
          </a:p>
        </p:txBody>
      </p:sp>
      <p:pic>
        <p:nvPicPr>
          <p:cNvPr id="37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713" y="205941"/>
            <a:ext cx="8410575" cy="276225"/>
          </a:xfrm>
          <a:prstGeom prst="rect">
            <a:avLst/>
          </a:prstGeom>
        </p:spPr>
      </p:pic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6713" y="4700662"/>
            <a:ext cx="8410575" cy="2381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6713" y="205941"/>
            <a:ext cx="8410575" cy="276225"/>
          </a:xfrm>
          <a:prstGeom prst="rect">
            <a:avLst/>
          </a:prstGeom>
          <a:ln/>
        </p:spPr>
      </p:sp>
      <p:sp>
        <p:nvSpPr>
          <p:cNvPr id="4" name="Shape 1"/>
          <p:cNvSpPr/>
          <p:nvPr/>
        </p:nvSpPr>
        <p:spPr>
          <a:xfrm>
            <a:off x="364592" y="204527"/>
            <a:ext cx="171450" cy="171450"/>
          </a:xfrm>
          <a:prstGeom prst="roundRect">
            <a:avLst>
              <a:gd name="adj" fmla="val 18667"/>
            </a:avLst>
          </a:prstGeom>
          <a:solidFill>
            <a:srgbClr val="0D9488"/>
          </a:solidFill>
          <a:ln/>
        </p:spPr>
      </p:sp>
      <p:sp>
        <p:nvSpPr>
          <p:cNvPr id="5" name="Text 2"/>
          <p:cNvSpPr/>
          <p:nvPr/>
        </p:nvSpPr>
        <p:spPr>
          <a:xfrm>
            <a:off x="617116" y="222200"/>
            <a:ext cx="184690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60" b="1" kern="0" spc="17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 Labour Market / 04</a:t>
            </a:r>
            <a:endParaRPr lang="en-US" sz="860" dirty="0"/>
          </a:p>
        </p:txBody>
      </p:sp>
      <p:sp>
        <p:nvSpPr>
          <p:cNvPr id="6" name="Text 3"/>
          <p:cNvSpPr/>
          <p:nvPr/>
        </p:nvSpPr>
        <p:spPr>
          <a:xfrm>
            <a:off x="7237735" y="229865"/>
            <a:ext cx="167422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sz="760" b="1">
                <a:latin typeface="Inter"/>
              </a:rPr>
              <a:t>METHODS &amp; METRICS</a:t>
            </a:r>
            <a:endParaRPr lang="en-US" sz="730" dirty="0"/>
          </a:p>
        </p:txBody>
      </p:sp>
      <p:sp>
        <p:nvSpPr>
          <p:cNvPr id="7" name="Text 4"/>
          <p:cNvSpPr/>
          <p:nvPr/>
        </p:nvSpPr>
        <p:spPr>
          <a:xfrm>
            <a:off x="8646170" y="229865"/>
            <a:ext cx="22886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30" b="1" kern="0" spc="4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730" dirty="0"/>
          </a:p>
        </p:txBody>
      </p:sp>
      <p:sp>
        <p:nvSpPr>
          <p:cNvPr id="8" name="Shape 5"/>
          <p:cNvSpPr/>
          <p:nvPr/>
        </p:nvSpPr>
        <p:spPr>
          <a:xfrm>
            <a:off x="365857" y="646547"/>
            <a:ext cx="3743325" cy="3890962"/>
          </a:xfrm>
          <a:prstGeom prst="roundRect">
            <a:avLst>
              <a:gd name="adj" fmla="val 2443"/>
            </a:avLst>
          </a:prstGeom>
          <a:solidFill>
            <a:srgbClr val="FFFFFF">
              <a:alpha val="82000"/>
            </a:srgbClr>
          </a:solidFill>
          <a:ln w="4763">
            <a:solidFill>
              <a:srgbClr val="E2E8F0"/>
            </a:solidFill>
            <a:prstDash val="solid"/>
          </a:ln>
          <a:effectLst>
            <a:outerShdw blurRad="146304" dist="50292" dir="5400000" algn="bl" rotWithShape="0">
              <a:srgbClr val="1E3A5F">
                <a:alpha val="6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157" y="761405"/>
            <a:ext cx="3514725" cy="18002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7339" y="2643113"/>
            <a:ext cx="1256221" cy="119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sz="760" b="1" dirty="0">
                <a:solidFill>
                  <a:srgbClr val="0D9488"/>
                </a:solidFill>
                <a:latin typeface="Inter"/>
              </a:rPr>
              <a:t>CURRENT</a:t>
            </a:r>
            <a:r>
              <a:rPr sz="760" b="1" dirty="0">
                <a:latin typeface="Inter"/>
              </a:rPr>
              <a:t> </a:t>
            </a:r>
            <a:r>
              <a:rPr sz="760" b="1" dirty="0">
                <a:solidFill>
                  <a:srgbClr val="0D9488"/>
                </a:solidFill>
                <a:latin typeface="Inter"/>
              </a:rPr>
              <a:t>SCOPE</a:t>
            </a:r>
            <a:endParaRPr lang="en-US" sz="760" dirty="0">
              <a:solidFill>
                <a:srgbClr val="0D9488"/>
              </a:solidFill>
            </a:endParaRPr>
          </a:p>
        </p:txBody>
      </p:sp>
      <p:sp>
        <p:nvSpPr>
          <p:cNvPr id="11" name="Text 7"/>
          <p:cNvSpPr/>
          <p:nvPr/>
        </p:nvSpPr>
        <p:spPr>
          <a:xfrm>
            <a:off x="512192" y="2871490"/>
            <a:ext cx="3422772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sz="840" b="1" dirty="0">
                <a:latin typeface="Inter"/>
              </a:rPr>
              <a:t>Descriptive study </a:t>
            </a:r>
            <a:r>
              <a:rPr sz="840" b="1">
                <a:latin typeface="Inter"/>
              </a:rPr>
              <a:t>· </a:t>
            </a:r>
            <a:endParaRPr lang="en-US" sz="840" dirty="0"/>
          </a:p>
        </p:txBody>
      </p:sp>
      <p:sp>
        <p:nvSpPr>
          <p:cNvPr id="12" name="Text 8"/>
          <p:cNvSpPr/>
          <p:nvPr/>
        </p:nvSpPr>
        <p:spPr>
          <a:xfrm>
            <a:off x="4383584" y="1083990"/>
            <a:ext cx="2245563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sz="850" b="1" dirty="0">
                <a:solidFill>
                  <a:srgbClr val="0D9488"/>
                </a:solidFill>
                <a:latin typeface="Inter"/>
              </a:rPr>
              <a:t>MODEL CHOICE + METRICS</a:t>
            </a:r>
            <a:endParaRPr lang="en-US" sz="850" dirty="0">
              <a:solidFill>
                <a:srgbClr val="0D9488"/>
              </a:solidFill>
            </a:endParaRPr>
          </a:p>
        </p:txBody>
      </p:sp>
      <p:sp>
        <p:nvSpPr>
          <p:cNvPr id="13" name="Text 9"/>
          <p:cNvSpPr/>
          <p:nvPr/>
        </p:nvSpPr>
        <p:spPr>
          <a:xfrm>
            <a:off x="4383584" y="1269802"/>
            <a:ext cx="4572216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sz="2630" b="1">
                <a:latin typeface="Inter"/>
              </a:rPr>
              <a:t>Why descriptive</a:t>
            </a:r>
            <a:endParaRPr lang="en-US" sz="2630" dirty="0"/>
          </a:p>
        </p:txBody>
      </p:sp>
      <p:sp>
        <p:nvSpPr>
          <p:cNvPr id="14" name="Text 10"/>
          <p:cNvSpPr/>
          <p:nvPr/>
        </p:nvSpPr>
        <p:spPr>
          <a:xfrm>
            <a:off x="4383584" y="1623566"/>
            <a:ext cx="5254704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sz="2630" b="1">
                <a:latin typeface="Inter"/>
              </a:rPr>
              <a:t>analysis?</a:t>
            </a:r>
            <a:endParaRPr lang="en-US" sz="2630" dirty="0"/>
          </a:p>
        </p:txBody>
      </p:sp>
      <p:sp>
        <p:nvSpPr>
          <p:cNvPr id="15" name="Text 11"/>
          <p:cNvSpPr/>
          <p:nvPr/>
        </p:nvSpPr>
        <p:spPr>
          <a:xfrm>
            <a:off x="4523333" y="2134493"/>
            <a:ext cx="4599689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60" dirty="0"/>
          </a:p>
        </p:txBody>
      </p:sp>
      <p:sp>
        <p:nvSpPr>
          <p:cNvPr id="16" name="Text 12"/>
          <p:cNvSpPr/>
          <p:nvPr/>
        </p:nvSpPr>
        <p:spPr>
          <a:xfrm>
            <a:off x="4523333" y="2374401"/>
            <a:ext cx="5400586" cy="304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buNone/>
            </a:pPr>
            <a:r>
              <a:rPr sz="960">
                <a:latin typeface="Inter"/>
              </a:rPr>
              <a:t>Goal: explain trends, regional differences, COVID shifts, and labour-market relationships.</a:t>
            </a:r>
            <a:endParaRPr lang="en-US" sz="960" dirty="0"/>
          </a:p>
        </p:txBody>
      </p:sp>
      <p:sp>
        <p:nvSpPr>
          <p:cNvPr id="17" name="Text 13"/>
          <p:cNvSpPr/>
          <p:nvPr/>
        </p:nvSpPr>
        <p:spPr>
          <a:xfrm>
            <a:off x="4523333" y="2770358"/>
            <a:ext cx="5231390" cy="304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buNone/>
            </a:pPr>
            <a:r>
              <a:rPr sz="960">
                <a:latin typeface="Inter"/>
              </a:rPr>
              <a:t>Mean &amp; median → compare typical unemployment levels.</a:t>
            </a:r>
            <a:endParaRPr lang="en-US" sz="960" dirty="0"/>
          </a:p>
        </p:txBody>
      </p:sp>
      <p:sp>
        <p:nvSpPr>
          <p:cNvPr id="18" name="Text 14"/>
          <p:cNvSpPr/>
          <p:nvPr/>
        </p:nvSpPr>
        <p:spPr>
          <a:xfrm>
            <a:off x="4523333" y="3166315"/>
            <a:ext cx="4808741" cy="304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buNone/>
            </a:pPr>
            <a:r>
              <a:rPr sz="960">
                <a:latin typeface="Inter"/>
              </a:rPr>
              <a:t>Min / max &amp; count → capture range, peaks, and observation volume.</a:t>
            </a:r>
            <a:endParaRPr lang="en-US" sz="960" dirty="0"/>
          </a:p>
        </p:txBody>
      </p:sp>
      <p:sp>
        <p:nvSpPr>
          <p:cNvPr id="19" name="Text 15"/>
          <p:cNvSpPr/>
          <p:nvPr/>
        </p:nvSpPr>
        <p:spPr>
          <a:xfrm>
            <a:off x="4523333" y="3561457"/>
            <a:ext cx="5299107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sz="960">
                <a:latin typeface="Inter"/>
              </a:rPr>
              <a:t>Percentage-point &amp; relative change → quantify the COVID shift.</a:t>
            </a:r>
            <a:endParaRPr lang="en-US" sz="960" dirty="0"/>
          </a:p>
        </p:txBody>
      </p:sp>
      <p:sp>
        <p:nvSpPr>
          <p:cNvPr id="20" name="Text 16"/>
          <p:cNvSpPr/>
          <p:nvPr/>
        </p:nvSpPr>
        <p:spPr>
          <a:xfrm>
            <a:off x="4523333" y="3970251"/>
            <a:ext cx="5560204" cy="268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buNone/>
            </a:pPr>
            <a:r>
              <a:rPr sz="960" dirty="0">
                <a:latin typeface="Inter"/>
              </a:rPr>
              <a:t>Correlation → measure linear association; it does not prove causation.</a:t>
            </a:r>
            <a:endParaRPr lang="en-US" sz="960" dirty="0"/>
          </a:p>
        </p:txBody>
      </p:sp>
      <p:sp>
        <p:nvSpPr>
          <p:cNvPr id="21" name="Text 17"/>
          <p:cNvSpPr/>
          <p:nvPr/>
        </p:nvSpPr>
        <p:spPr>
          <a:xfrm>
            <a:off x="365745" y="4803353"/>
            <a:ext cx="1991432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60" kern="0" spc="8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Unemployment Analysis Project</a:t>
            </a:r>
            <a:endParaRPr lang="en-US" sz="760" dirty="0"/>
          </a:p>
        </p:txBody>
      </p:sp>
      <p:sp>
        <p:nvSpPr>
          <p:cNvPr id="22" name="Text 18"/>
          <p:cNvSpPr/>
          <p:nvPr/>
        </p:nvSpPr>
        <p:spPr>
          <a:xfrm>
            <a:off x="6774954" y="4803353"/>
            <a:ext cx="2661441" cy="119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sz="760">
                <a:latin typeface="Inter"/>
              </a:rPr>
              <a:t>Descriptive analysis first · prediction later · Page 4</a:t>
            </a:r>
            <a:endParaRPr lang="en-US" sz="76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713" y="205941"/>
            <a:ext cx="8410575" cy="276225"/>
          </a:xfrm>
          <a:prstGeom prst="rect">
            <a:avLst/>
          </a:prstGeom>
        </p:spPr>
      </p:pic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6713" y="4700662"/>
            <a:ext cx="8410575" cy="2381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6713" y="205941"/>
            <a:ext cx="8410575" cy="276225"/>
          </a:xfrm>
          <a:prstGeom prst="rect">
            <a:avLst/>
          </a:prstGeom>
          <a:ln/>
        </p:spPr>
      </p:sp>
      <p:sp>
        <p:nvSpPr>
          <p:cNvPr id="4" name="Shape 1"/>
          <p:cNvSpPr/>
          <p:nvPr/>
        </p:nvSpPr>
        <p:spPr>
          <a:xfrm>
            <a:off x="364592" y="204527"/>
            <a:ext cx="171450" cy="171450"/>
          </a:xfrm>
          <a:prstGeom prst="roundRect">
            <a:avLst>
              <a:gd name="adj" fmla="val 18667"/>
            </a:avLst>
          </a:prstGeom>
          <a:solidFill>
            <a:srgbClr val="0D9488"/>
          </a:solidFill>
          <a:ln/>
        </p:spPr>
      </p:sp>
      <p:sp>
        <p:nvSpPr>
          <p:cNvPr id="5" name="Text 2"/>
          <p:cNvSpPr/>
          <p:nvPr/>
        </p:nvSpPr>
        <p:spPr>
          <a:xfrm>
            <a:off x="617116" y="222200"/>
            <a:ext cx="183916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60" b="1" kern="0" spc="17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 Labour Market / 05</a:t>
            </a:r>
            <a:endParaRPr lang="en-US" sz="860" dirty="0"/>
          </a:p>
        </p:txBody>
      </p:sp>
      <p:sp>
        <p:nvSpPr>
          <p:cNvPr id="6" name="Text 3"/>
          <p:cNvSpPr/>
          <p:nvPr/>
        </p:nvSpPr>
        <p:spPr>
          <a:xfrm>
            <a:off x="7207821" y="229865"/>
            <a:ext cx="170953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30" b="1" kern="0" spc="4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PRODUCTIZED ANALYSIS</a:t>
            </a:r>
            <a:endParaRPr lang="en-US" sz="730" dirty="0"/>
          </a:p>
        </p:txBody>
      </p:sp>
      <p:sp>
        <p:nvSpPr>
          <p:cNvPr id="7" name="Text 4"/>
          <p:cNvSpPr/>
          <p:nvPr/>
        </p:nvSpPr>
        <p:spPr>
          <a:xfrm>
            <a:off x="8643417" y="229865"/>
            <a:ext cx="23244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30" b="1" kern="0" spc="4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730" dirty="0"/>
          </a:p>
        </p:txBody>
      </p:sp>
      <p:sp>
        <p:nvSpPr>
          <p:cNvPr id="8" name="Shape 5"/>
          <p:cNvSpPr/>
          <p:nvPr/>
        </p:nvSpPr>
        <p:spPr>
          <a:xfrm>
            <a:off x="366266" y="646547"/>
            <a:ext cx="3905250" cy="3890962"/>
          </a:xfrm>
          <a:prstGeom prst="roundRect">
            <a:avLst>
              <a:gd name="adj" fmla="val 2350"/>
            </a:avLst>
          </a:prstGeom>
          <a:solidFill>
            <a:srgbClr val="FFFFFF">
              <a:alpha val="82000"/>
            </a:srgbClr>
          </a:solidFill>
          <a:ln w="4763">
            <a:solidFill>
              <a:srgbClr val="E2E8F0"/>
            </a:solidFill>
            <a:prstDash val="solid"/>
          </a:ln>
          <a:effectLst>
            <a:outerShdw blurRad="146304" dist="50292" dir="5400000" algn="bl" rotWithShape="0">
              <a:srgbClr val="1E3A5F">
                <a:alpha val="6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566" y="760847"/>
            <a:ext cx="3676650" cy="366236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46327" y="1031304"/>
            <a:ext cx="281728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85" dirty="0">
                <a:solidFill>
                  <a:srgbClr val="0D94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NOTEBOOK TO DASHBOARD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4546327" y="1217116"/>
            <a:ext cx="4153146" cy="404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630" b="1" kern="0" spc="-118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 became an</a:t>
            </a:r>
            <a:endParaRPr lang="en-US" sz="2630" dirty="0"/>
          </a:p>
        </p:txBody>
      </p:sp>
      <p:sp>
        <p:nvSpPr>
          <p:cNvPr id="12" name="Text 8"/>
          <p:cNvSpPr/>
          <p:nvPr/>
        </p:nvSpPr>
        <p:spPr>
          <a:xfrm>
            <a:off x="4546327" y="1570881"/>
            <a:ext cx="4731060" cy="404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630" b="1" kern="0" spc="-118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decision tool</a:t>
            </a:r>
            <a:endParaRPr lang="en-US" sz="2630" dirty="0"/>
          </a:p>
        </p:txBody>
      </p:sp>
      <p:sp>
        <p:nvSpPr>
          <p:cNvPr id="13" name="Text 9"/>
          <p:cNvSpPr/>
          <p:nvPr/>
        </p:nvSpPr>
        <p:spPr>
          <a:xfrm>
            <a:off x="4686077" y="2199680"/>
            <a:ext cx="4693429" cy="1476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8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Streamlit dashboard with state/region and Rural/Urban filters</a:t>
            </a:r>
            <a:endParaRPr lang="en-US" sz="980" dirty="0"/>
          </a:p>
        </p:txBody>
      </p:sp>
      <p:sp>
        <p:nvSpPr>
          <p:cNvPr id="14" name="Text 10"/>
          <p:cNvSpPr/>
          <p:nvPr/>
        </p:nvSpPr>
        <p:spPr>
          <a:xfrm>
            <a:off x="4686077" y="2444959"/>
            <a:ext cx="5279469" cy="3067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53"/>
              </a:lnSpc>
              <a:buNone/>
            </a:pPr>
            <a:r>
              <a:rPr lang="en-US" sz="98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Plotly views: time series, state rankings, box plots, monthly patterns,</a:t>
            </a:r>
            <a:endParaRPr lang="en-US" sz="980" dirty="0"/>
          </a:p>
          <a:p>
            <a:pPr marL="0" indent="0" algn="l">
              <a:lnSpc>
                <a:spcPts val="1253"/>
              </a:lnSpc>
              <a:buNone/>
            </a:pPr>
            <a:r>
              <a:rPr lang="en-US" sz="98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heatmaps, and animated bubbles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4686077" y="2847986"/>
            <a:ext cx="4866010" cy="3067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53"/>
              </a:lnSpc>
              <a:buNone/>
            </a:pPr>
            <a:r>
              <a:rPr lang="en-US" sz="980" b="1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takeaway: unemployment rose sharply during the COVID</a:t>
            </a:r>
            <a:endParaRPr lang="en-US" sz="980" dirty="0"/>
          </a:p>
          <a:p>
            <a:pPr marL="0" indent="0" algn="l">
              <a:lnSpc>
                <a:spcPts val="1253"/>
              </a:lnSpc>
              <a:buNone/>
            </a:pPr>
            <a:r>
              <a:rPr lang="en-US" sz="980" b="1" dirty="0">
                <a:solidFill>
                  <a:srgbClr val="1E3A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period, but the impact was not uniform</a:t>
            </a:r>
            <a:endParaRPr lang="en-US" sz="980" dirty="0"/>
          </a:p>
        </p:txBody>
      </p:sp>
      <p:sp>
        <p:nvSpPr>
          <p:cNvPr id="16" name="Text 12"/>
          <p:cNvSpPr/>
          <p:nvPr/>
        </p:nvSpPr>
        <p:spPr>
          <a:xfrm>
            <a:off x="4686077" y="3251012"/>
            <a:ext cx="4969326" cy="3067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53"/>
              </a:lnSpc>
              <a:buNone/>
            </a:pPr>
            <a:r>
              <a:rPr lang="en-US" sz="98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direction: targeted regional support, rapid crisis-response</a:t>
            </a:r>
            <a:endParaRPr lang="en-US" sz="980" dirty="0"/>
          </a:p>
          <a:p>
            <a:pPr marL="0" indent="0" algn="l">
              <a:lnSpc>
                <a:spcPts val="1253"/>
              </a:lnSpc>
              <a:buNone/>
            </a:pPr>
            <a:r>
              <a:rPr lang="en-US" sz="98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mechanisms, and rural/urban-tailored programmes</a:t>
            </a:r>
            <a:endParaRPr lang="en-US" sz="980" dirty="0"/>
          </a:p>
        </p:txBody>
      </p:sp>
      <p:sp>
        <p:nvSpPr>
          <p:cNvPr id="17" name="Shape 13"/>
          <p:cNvSpPr/>
          <p:nvPr/>
        </p:nvSpPr>
        <p:spPr>
          <a:xfrm>
            <a:off x="4545323" y="3728219"/>
            <a:ext cx="4233863" cy="438150"/>
          </a:xfrm>
          <a:prstGeom prst="roundRect">
            <a:avLst>
              <a:gd name="adj" fmla="val 13565"/>
            </a:avLst>
          </a:prstGeom>
          <a:solidFill>
            <a:srgbClr val="E76F51">
              <a:alpha val="10000"/>
            </a:srgbClr>
          </a:solidFill>
          <a:ln w="4763">
            <a:solidFill>
              <a:srgbClr val="E76F51">
                <a:alpha val="2800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660776" y="3809479"/>
            <a:ext cx="521407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840" b="1" dirty="0">
                <a:solidFill>
                  <a:srgbClr val="7C2D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Important caveat: this is an observational comparison—not proof that COVID-19</a:t>
            </a:r>
            <a:endParaRPr lang="en-US" sz="840" dirty="0"/>
          </a:p>
        </p:txBody>
      </p:sp>
      <p:sp>
        <p:nvSpPr>
          <p:cNvPr id="19" name="Text 15"/>
          <p:cNvSpPr/>
          <p:nvPr/>
        </p:nvSpPr>
        <p:spPr>
          <a:xfrm>
            <a:off x="4800154" y="3947294"/>
            <a:ext cx="172569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840" b="1" dirty="0">
                <a:solidFill>
                  <a:srgbClr val="7C2D1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alone caused the change</a:t>
            </a:r>
            <a:endParaRPr lang="en-US" sz="840" dirty="0"/>
          </a:p>
        </p:txBody>
      </p:sp>
      <p:sp>
        <p:nvSpPr>
          <p:cNvPr id="20" name="Text 16"/>
          <p:cNvSpPr/>
          <p:nvPr/>
        </p:nvSpPr>
        <p:spPr>
          <a:xfrm>
            <a:off x="365745" y="4803353"/>
            <a:ext cx="1991432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60" kern="0" spc="8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Unemployment Analysis Project</a:t>
            </a:r>
            <a:endParaRPr lang="en-US" sz="760" dirty="0"/>
          </a:p>
        </p:txBody>
      </p:sp>
      <p:sp>
        <p:nvSpPr>
          <p:cNvPr id="21" name="Text 17"/>
          <p:cNvSpPr/>
          <p:nvPr/>
        </p:nvSpPr>
        <p:spPr>
          <a:xfrm>
            <a:off x="7676257" y="4803353"/>
            <a:ext cx="1489747" cy="1190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60" kern="0" spc="8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 · Page 5 of 5</a:t>
            </a:r>
            <a:endParaRPr lang="en-US" sz="76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713" y="205941"/>
            <a:ext cx="8410575" cy="276225"/>
          </a:xfrm>
          <a:prstGeom prst="rect">
            <a:avLst/>
          </a:prstGeom>
        </p:spPr>
      </p:pic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6713" y="4700662"/>
            <a:ext cx="8410575" cy="2381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481</Words>
  <Application>Microsoft Office PowerPoint</Application>
  <PresentationFormat>On-screen Show (16:9)</PresentationFormat>
  <Paragraphs>104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khaldounmouhamad20@gmail.com</cp:lastModifiedBy>
  <cp:revision>3</cp:revision>
  <dcterms:created xsi:type="dcterms:W3CDTF">2026-08-27T13:18:36Z</dcterms:created>
  <dcterms:modified xsi:type="dcterms:W3CDTF">2026-08-27T13:40:05Z</dcterms:modified>
</cp:coreProperties>
</file>
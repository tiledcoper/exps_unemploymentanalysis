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01200" y="-640080"/>
            <a:ext cx="3017520" cy="3017520"/>
          </a:xfrm>
          <a:prstGeom prst="ellipse">
            <a:avLst/>
          </a:prstGeom>
          <a:solidFill>
            <a:srgbClr val="194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515600" y="4754880"/>
            <a:ext cx="2286000" cy="2286000"/>
          </a:xfrm>
          <a:prstGeom prst="ellipse">
            <a:avLst/>
          </a:prstGeom>
          <a:solidFill>
            <a:srgbClr val="153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731520" y="5394960"/>
            <a:ext cx="1828800" cy="1828800"/>
          </a:xfrm>
          <a:prstGeom prst="ellipse">
            <a:avLst/>
          </a:prstGeom>
          <a:solidFill>
            <a:srgbClr val="1235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68580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9BECF"/>
                </a:solidFill>
                <a:latin typeface="Aptos"/>
              </a:rPr>
              <a:t>DATA STORY  / 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417320"/>
            <a:ext cx="676656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800" b="1">
                <a:solidFill>
                  <a:srgbClr val="F8FAFC"/>
                </a:solidFill>
                <a:latin typeface="Aptos"/>
              </a:rPr>
              <a:t>India Unemployment
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520440"/>
            <a:ext cx="7772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E2E9F0"/>
                </a:solidFill>
                <a:latin typeface="Aptos"/>
              </a:rPr>
              <a:t>Regional differences • Labour-market signals • COVID-19 shock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251960"/>
            <a:ext cx="7772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A5B4C6"/>
                </a:solidFill>
                <a:latin typeface="Aptos"/>
              </a:rPr>
              <a:t>28 regions  |  Rural + Urban  |  May 2019 – June 2020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49640" y="1371600"/>
            <a:ext cx="2606040" cy="3566160"/>
          </a:xfrm>
          <a:prstGeom prst="roundRect">
            <a:avLst/>
          </a:prstGeom>
          <a:solidFill>
            <a:srgbClr val="12273B"/>
          </a:solidFill>
          <a:ln w="12700">
            <a:solidFill>
              <a:srgbClr val="304B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15400" y="1783080"/>
            <a:ext cx="1874519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600" b="1">
                <a:solidFill>
                  <a:srgbClr val="F8FAFC"/>
                </a:solidFill>
                <a:latin typeface="Aptos"/>
              </a:rPr>
              <a:t>COVID
SHOCK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32520" y="3154680"/>
            <a:ext cx="224028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000" b="1">
                <a:solidFill>
                  <a:srgbClr val="29BECF"/>
                </a:solidFill>
                <a:latin typeface="Aptos"/>
              </a:rPr>
              <a:t>+86.9%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0" y="3977639"/>
            <a:ext cx="21488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>
                <a:solidFill>
                  <a:srgbClr val="A5B4C6"/>
                </a:solidFill>
              </a:rPr>
              <a:t>increase in average
unemployment rate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" y="6473952"/>
            <a:ext cx="10972800" cy="18288"/>
          </a:xfrm>
          <a:prstGeom prst="rect">
            <a:avLst/>
          </a:prstGeom>
          <a:solidFill>
            <a:srgbClr val="3042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6519672"/>
            <a:ext cx="2743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0">
                <a:solidFill>
                  <a:srgbClr val="A5B4C6"/>
                </a:solidFill>
                <a:latin typeface="Aptos"/>
              </a:rPr>
              <a:t>Unemployment Analysis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0" y="6492240"/>
            <a:ext cx="5943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A5B4C6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29BECF"/>
                </a:solidFill>
                <a:latin typeface="Aptos"/>
              </a:rPr>
              <a:t>INDIA • LABOUR MARKET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274320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>
                <a:solidFill>
                  <a:srgbClr val="E2E9F0"/>
                </a:solidFill>
              </a:rPr>
              <a:t>02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73952"/>
            <a:ext cx="10972800" cy="18288"/>
          </a:xfrm>
          <a:prstGeom prst="rect">
            <a:avLst/>
          </a:prstGeom>
          <a:solidFill>
            <a:srgbClr val="3042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19672"/>
            <a:ext cx="2743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0">
                <a:solidFill>
                  <a:srgbClr val="A5B4C6"/>
                </a:solidFill>
                <a:latin typeface="Aptos"/>
              </a:rPr>
              <a:t>Unemployment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5943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A5B4C6"/>
                </a:solidFill>
                <a:latin typeface="Aptos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822960"/>
            <a:ext cx="73152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8FAFC"/>
                </a:solidFill>
                <a:latin typeface="Aptos"/>
              </a:rPr>
              <a:t>Data Preparation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141732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29BECF"/>
                </a:solidFill>
                <a:latin typeface="Aptos"/>
              </a:rPr>
              <a:t>FROM RAW DATA TO ANALYSIS-READY DATA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965960"/>
            <a:ext cx="3063240" cy="1417320"/>
          </a:xfrm>
          <a:prstGeom prst="roundRect">
            <a:avLst/>
          </a:prstGeom>
          <a:solidFill>
            <a:srgbClr val="1B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212848"/>
            <a:ext cx="2606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29BECF"/>
                </a:solidFill>
                <a:latin typeface="Aptos"/>
              </a:rPr>
              <a:t>768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816352"/>
            <a:ext cx="2606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A5B4C6"/>
                </a:solidFill>
                <a:latin typeface="Aptos"/>
              </a:rPr>
              <a:t>RAW ROWS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069080" y="1965960"/>
            <a:ext cx="3063240" cy="1417320"/>
          </a:xfrm>
          <a:prstGeom prst="roundRect">
            <a:avLst/>
          </a:prstGeom>
          <a:solidFill>
            <a:srgbClr val="1B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97680" y="2212848"/>
            <a:ext cx="260604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800" b="1">
                <a:solidFill>
                  <a:srgbClr val="E2E9F0"/>
                </a:solidFill>
                <a:latin typeface="Aptos"/>
              </a:rPr>
              <a:t>ROWS REMOVED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2816352"/>
            <a:ext cx="26060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900" b="0">
                <a:solidFill>
                  <a:srgbClr val="A5B4C6"/>
                </a:solidFill>
                <a:latin typeface="Aptos"/>
              </a:rPr>
              <a:t>27 duplicates + 1 row with missing data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98079" y="1965960"/>
            <a:ext cx="3063240" cy="1417320"/>
          </a:xfrm>
          <a:prstGeom prst="roundRect">
            <a:avLst/>
          </a:prstGeom>
          <a:solidFill>
            <a:srgbClr val="1B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26679" y="2212848"/>
            <a:ext cx="2606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29BECF"/>
                </a:solidFill>
                <a:latin typeface="Aptos"/>
              </a:rPr>
              <a:t>740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26679" y="2816352"/>
            <a:ext cx="2606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A5B4C6"/>
                </a:solidFill>
                <a:latin typeface="Aptos"/>
              </a:rPr>
              <a:t>CLEAN OBSERVATIONS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886200"/>
            <a:ext cx="20116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9BECF"/>
                </a:solidFill>
                <a:latin typeface="Aptos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8992" y="3886200"/>
            <a:ext cx="9802368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E2E9F0"/>
                </a:solidFill>
                <a:latin typeface="Aptos"/>
              </a:rPr>
              <a:t>Standardized text fields and converted dates.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4544568"/>
            <a:ext cx="20116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9BECF"/>
                </a:solidFill>
                <a:latin typeface="Aptos"/>
              </a:rPr>
              <a:t>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8992" y="4544568"/>
            <a:ext cx="9802368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E2E9F0"/>
                </a:solidFill>
                <a:latin typeface="Aptos"/>
              </a:rPr>
              <a:t>Engineered Year, Month, Month_Name, and Period features.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5202936"/>
            <a:ext cx="20116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9BECF"/>
                </a:solidFill>
                <a:latin typeface="Aptos"/>
              </a:rP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8992" y="5202936"/>
            <a:ext cx="9802368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E2E9F0"/>
                </a:solidFill>
                <a:latin typeface="Aptos"/>
              </a:rPr>
              <a:t>Final dataset is ready for regional and time-based analysis.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29BECF"/>
                </a:solidFill>
                <a:latin typeface="Aptos"/>
              </a:rPr>
              <a:t>INDIA • LABOUR MARKET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274320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>
                <a:solidFill>
                  <a:srgbClr val="E2E9F0"/>
                </a:solidFill>
              </a:rPr>
              <a:t>03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73952"/>
            <a:ext cx="10972800" cy="18288"/>
          </a:xfrm>
          <a:prstGeom prst="rect">
            <a:avLst/>
          </a:prstGeom>
          <a:solidFill>
            <a:srgbClr val="3042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19672"/>
            <a:ext cx="2743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0">
                <a:solidFill>
                  <a:srgbClr val="A5B4C6"/>
                </a:solidFill>
                <a:latin typeface="Aptos"/>
              </a:rPr>
              <a:t>Unemployment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5943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A5B4C6"/>
                </a:solidFill>
                <a:latin typeface="Aptos"/>
              </a:rP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822960"/>
            <a:ext cx="73152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8FAFC"/>
                </a:solidFill>
                <a:latin typeface="Aptos"/>
              </a:rPr>
              <a:t>The COVID-19 Shock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1417320"/>
            <a:ext cx="6400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29BECF"/>
                </a:solidFill>
                <a:latin typeface="Aptos"/>
              </a:rPr>
              <a:t>THE LABOUR MARKET DETERIORATED SHARPLY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965960"/>
            <a:ext cx="3246120" cy="1417320"/>
          </a:xfrm>
          <a:prstGeom prst="roundRect">
            <a:avLst/>
          </a:prstGeom>
          <a:solidFill>
            <a:srgbClr val="1B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176272"/>
            <a:ext cx="2788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29BECF"/>
                </a:solidFill>
                <a:latin typeface="Aptos"/>
              </a:rPr>
              <a:t>9.51%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798064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A5B4C6"/>
                </a:solidFill>
                <a:latin typeface="Aptos"/>
              </a:rPr>
              <a:t>Pre-COVID average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3400" y="1965960"/>
            <a:ext cx="3246120" cy="1417320"/>
          </a:xfrm>
          <a:prstGeom prst="roundRect">
            <a:avLst/>
          </a:prstGeom>
          <a:solidFill>
            <a:srgbClr val="1B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2176272"/>
            <a:ext cx="2788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29BECF"/>
                </a:solidFill>
                <a:latin typeface="Aptos"/>
              </a:rPr>
              <a:t>17.77%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798064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A5B4C6"/>
                </a:solidFill>
                <a:latin typeface="Aptos"/>
              </a:rPr>
              <a:t>COVID-period average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19" y="1965960"/>
            <a:ext cx="3246120" cy="1417320"/>
          </a:xfrm>
          <a:prstGeom prst="roundRect">
            <a:avLst/>
          </a:prstGeom>
          <a:solidFill>
            <a:srgbClr val="1B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75319" y="2176272"/>
            <a:ext cx="2788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5A648"/>
                </a:solidFill>
                <a:latin typeface="Aptos"/>
              </a:rPr>
              <a:t>+8.26 pp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19" y="2798064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A5B4C6"/>
                </a:solidFill>
                <a:latin typeface="Aptos"/>
              </a:rPr>
              <a:t>Increase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794760"/>
            <a:ext cx="20116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9BECF"/>
                </a:solidFill>
                <a:latin typeface="Aptos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8992" y="3794760"/>
            <a:ext cx="10168128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0">
                <a:latin typeface="Aptos"/>
              </a:rPr>
              <a:t>Overall unemployment increased by 86.9%.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4325112"/>
            <a:ext cx="20116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9BECF"/>
                </a:solidFill>
                <a:latin typeface="Aptos"/>
              </a:rPr>
              <a:t>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8992" y="4325112"/>
            <a:ext cx="10168128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0">
                <a:latin typeface="Aptos"/>
              </a:rPr>
              <a:t>Urban areas averaged 13.17% unemployment versus 10.32% in Rural areas.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4855464"/>
            <a:ext cx="20116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9BECF"/>
                </a:solidFill>
                <a:latin typeface="Aptos"/>
              </a:rP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8992" y="4855464"/>
            <a:ext cx="10168128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0">
                <a:latin typeface="Aptos"/>
              </a:rPr>
              <a:t>May 2020 recorded the highest monthly average: 24.88%.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40680"/>
            <a:ext cx="10927080" cy="640080"/>
          </a:xfrm>
          <a:prstGeom prst="roundRect">
            <a:avLst/>
          </a:prstGeom>
          <a:solidFill>
            <a:srgbClr val="372A21"/>
          </a:solidFill>
          <a:ln w="12700">
            <a:solidFill>
              <a:srgbClr val="764F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5605272"/>
            <a:ext cx="1508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F5A648"/>
                </a:solidFill>
                <a:latin typeface="Aptos"/>
              </a:rPr>
              <a:t>PUDUCHERRY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31720" y="5532120"/>
            <a:ext cx="87325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1">
                <a:latin typeface="Aptos"/>
              </a:rPr>
              <a:t>+37.36 pp increase and a highest single observation of 76.74%.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29BECF"/>
                </a:solidFill>
                <a:latin typeface="Aptos"/>
              </a:rPr>
              <a:t>INDIA • LABOUR MARKET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274320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>
                <a:solidFill>
                  <a:srgbClr val="E2E9F0"/>
                </a:solidFill>
              </a:rPr>
              <a:t>04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73952"/>
            <a:ext cx="10972800" cy="18288"/>
          </a:xfrm>
          <a:prstGeom prst="rect">
            <a:avLst/>
          </a:prstGeom>
          <a:solidFill>
            <a:srgbClr val="3042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19672"/>
            <a:ext cx="2743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0">
                <a:solidFill>
                  <a:srgbClr val="A5B4C6"/>
                </a:solidFill>
                <a:latin typeface="Aptos"/>
              </a:rPr>
              <a:t>Unemployment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5943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A5B4C6"/>
                </a:solidFill>
                <a:latin typeface="Aptos"/>
              </a:rPr>
              <a:t>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822960"/>
            <a:ext cx="73152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000" b="1">
                <a:latin typeface="Aptos"/>
              </a:rPr>
              <a:t>Methods &amp; Action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141732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1">
                <a:latin typeface="Aptos"/>
              </a:rPr>
              <a:t>A DESCRIPTIVE VIEW OF TRENDS, DIFFERENCES &amp; IMPLICATIONS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965960"/>
            <a:ext cx="10835640" cy="841248"/>
          </a:xfrm>
          <a:prstGeom prst="roundRect">
            <a:avLst/>
          </a:prstGeom>
          <a:solidFill>
            <a:srgbClr val="1B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176272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9BECF"/>
                </a:solidFill>
                <a:latin typeface="Aptos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0200" y="2112264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1">
                <a:latin typeface="Aptos"/>
              </a:rPr>
              <a:t>Trend analysis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94760" y="2093976"/>
            <a:ext cx="7269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0">
                <a:latin typeface="Aptos"/>
              </a:rPr>
              <a:t>Compare unemployment before and during the COVID period.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017520"/>
            <a:ext cx="10835640" cy="841248"/>
          </a:xfrm>
          <a:prstGeom prst="roundRect">
            <a:avLst/>
          </a:prstGeom>
          <a:solidFill>
            <a:srgbClr val="1B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227832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9BECF"/>
                </a:solidFill>
                <a:latin typeface="Aptos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0200" y="3163824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1">
                <a:latin typeface="Aptos"/>
              </a:rPr>
              <a:t>Regional analysis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94760" y="3145536"/>
            <a:ext cx="7269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0">
                <a:latin typeface="Aptos"/>
              </a:rPr>
              <a:t>Measure differences across regions and Rural / Urban areas.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069079"/>
            <a:ext cx="10835640" cy="841248"/>
          </a:xfrm>
          <a:prstGeom prst="roundRect">
            <a:avLst/>
          </a:prstGeom>
          <a:solidFill>
            <a:srgbClr val="1B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4279392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9BECF"/>
                </a:solidFill>
                <a:latin typeface="Aptos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00200" y="4215383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1">
                <a:latin typeface="Aptos"/>
              </a:rPr>
              <a:t>Labour-market signals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94760" y="4197095"/>
            <a:ext cx="7269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0">
                <a:latin typeface="Aptos"/>
              </a:rPr>
              <a:t>Explore participation, unemployment, and employment; correlation with employment is weakly negative (−0.223).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257800"/>
            <a:ext cx="10835640" cy="777240"/>
          </a:xfrm>
          <a:prstGeom prst="roundRect">
            <a:avLst/>
          </a:prstGeom>
          <a:solidFill>
            <a:srgbClr val="143741"/>
          </a:solidFill>
          <a:ln w="12700">
            <a:solidFill>
              <a:srgbClr val="236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468112"/>
            <a:ext cx="2286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1">
                <a:latin typeface="Aptos"/>
              </a:rPr>
              <a:t>ACTION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37560" y="5413248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>
                <a:latin typeface="Aptos"/>
              </a:rPr>
              <a:t>Targeted support • Early-warning monitoring • Training &amp; reskilling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55279" y="5413248"/>
            <a:ext cx="2926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0">
                <a:latin typeface="Aptos"/>
              </a:rPr>
              <a:t>Use regional evidence to support crisis response and recovery.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360" y="6473952"/>
            <a:ext cx="10972800" cy="18288"/>
          </a:xfrm>
          <a:prstGeom prst="rect">
            <a:avLst/>
          </a:prstGeom>
          <a:solidFill>
            <a:srgbClr val="3042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519672"/>
            <a:ext cx="2743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0">
                <a:solidFill>
                  <a:srgbClr val="A5B4C6"/>
                </a:solidFill>
                <a:latin typeface="Aptos"/>
              </a:rPr>
              <a:t>Unemployment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92240"/>
            <a:ext cx="5943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82296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00" b="1">
                <a:latin typeface="Aptos"/>
              </a:rPr>
              <a:t>KEY TAKEAWAY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325880"/>
            <a:ext cx="45720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200" b="1">
                <a:latin typeface="Aptos"/>
              </a:rPr>
              <a:t>Key Takeaway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057400"/>
            <a:ext cx="99669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>
                <a:latin typeface="Aptos"/>
              </a:rPr>
              <a:t>COVID-19 was associated with a sharp increase in unemployment across India.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429000"/>
            <a:ext cx="20116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9BECF"/>
                </a:solidFill>
                <a:latin typeface="Aptos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70432" y="3429000"/>
            <a:ext cx="9619488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0">
                <a:latin typeface="Aptos"/>
              </a:rPr>
              <a:t>Unemployment nearly doubled: 9.51% before COVID → 17.77% during the COVID period.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087368"/>
            <a:ext cx="20116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9BECF"/>
                </a:solidFill>
                <a:latin typeface="Aptos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70432" y="4087368"/>
            <a:ext cx="9619488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0">
                <a:latin typeface="Aptos"/>
              </a:rPr>
              <a:t>The impact varied significantly across regions and between Rural and Urban areas.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745736"/>
            <a:ext cx="20116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9BECF"/>
                </a:solidFill>
                <a:latin typeface="Aptos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70432" y="4745736"/>
            <a:ext cx="9619488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0">
                <a:latin typeface="Aptos"/>
              </a:rPr>
              <a:t>Regional monitoring can support targeted employment policies, early warning, and post-shock recovery.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806440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A5B4C6"/>
                </a:solidFill>
                <a:latin typeface="Aptos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EAEAEA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